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5790895"/>
            <a:ext cx="10287000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805" y="6072530"/>
            <a:ext cx="171907" cy="1719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18895" y="6029554"/>
            <a:ext cx="2072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가천대학교 스마트시티학과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3541471" y="6072530"/>
            <a:ext cx="152705" cy="1719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788359" y="6029554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학부 연구 프로젝트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8523122" y="6072530"/>
            <a:ext cx="152705" cy="171907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770925" y="6029554"/>
            <a:ext cx="11384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발표자: [이름]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-760" r="-760" t="0" b="0"/>
          <a:stretch/>
        </p:blipFill>
        <p:spPr>
          <a:xfrm>
            <a:off x="10152583" y="6072530"/>
            <a:ext cx="152705" cy="171907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400386" y="6029554"/>
            <a:ext cx="976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1월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>
              <a:alpha val="40000"/>
            </a:srgbClr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856318" y="511150"/>
            <a:ext cx="1723644" cy="1723644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952805" y="1807769"/>
            <a:ext cx="761695" cy="75895"/>
          </a:xfrm>
          <a:prstGeom prst="roundRect">
            <a:avLst>
              <a:gd name="adj" fmla="val 602411"/>
            </a:avLst>
          </a:prstGeom>
          <a:solidFill>
            <a:srgbClr val="4A90D9"/>
          </a:solidFill>
          <a:ln/>
        </p:spPr>
      </p:sp>
      <p:sp>
        <p:nvSpPr>
          <p:cNvPr id="17" name="Shape 9"/>
          <p:cNvSpPr/>
          <p:nvPr/>
        </p:nvSpPr>
        <p:spPr>
          <a:xfrm>
            <a:off x="952805" y="3374136"/>
            <a:ext cx="38405" cy="914400"/>
          </a:xfrm>
          <a:prstGeom prst="rect">
            <a:avLst/>
          </a:prstGeom>
          <a:solidFill>
            <a:srgbClr val="4A90D9">
              <a:alpha val="50000"/>
            </a:srgbClr>
          </a:solidFill>
          <a:ln/>
        </p:spPr>
      </p:sp>
      <p:sp>
        <p:nvSpPr>
          <p:cNvPr id="18" name="Text 10"/>
          <p:cNvSpPr txBox="1"/>
          <p:nvPr/>
        </p:nvSpPr>
        <p:spPr>
          <a:xfrm>
            <a:off x="952805" y="2122322"/>
            <a:ext cx="7668158" cy="11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6300" dirty="0"/>
          </a:p>
        </p:txBody>
      </p:sp>
      <p:sp>
        <p:nvSpPr>
          <p:cNvPr id="19" name="Text 11"/>
          <p:cNvSpPr txBox="1"/>
          <p:nvPr/>
        </p:nvSpPr>
        <p:spPr>
          <a:xfrm>
            <a:off x="1218895" y="3383280"/>
            <a:ext cx="44293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OpenTripPlanner RAPTOR 기반</a:t>
            </a:r>
            <a:endParaRPr lang="en-US" sz="2400" dirty="0"/>
          </a:p>
        </p:txBody>
      </p:sp>
      <p:sp>
        <p:nvSpPr>
          <p:cNvPr id="20" name="Text 12"/>
          <p:cNvSpPr txBox="1"/>
          <p:nvPr/>
        </p:nvSpPr>
        <p:spPr>
          <a:xfrm>
            <a:off x="1218895" y="3840480"/>
            <a:ext cx="45061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대중교통 경로탐색 엔진 개발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733349"/>
            <a:ext cx="362102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352398"/>
            <a:ext cx="9528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505102" y="580644"/>
            <a:ext cx="23820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952805" y="1781251"/>
            <a:ext cx="3276295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0537" y="1561795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500" dirty="0"/>
          </a:p>
        </p:txBody>
      </p:sp>
      <p:sp>
        <p:nvSpPr>
          <p:cNvPr id="9" name="Shape 6"/>
          <p:cNvSpPr/>
          <p:nvPr/>
        </p:nvSpPr>
        <p:spPr>
          <a:xfrm>
            <a:off x="1228954" y="205740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4A90D9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52398" y="218084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28954" y="2686507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목표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228954" y="3047695"/>
            <a:ext cx="18223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개발의 필요성과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228954" y="3247949"/>
            <a:ext cx="14127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핵심 목표 수립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57700" y="1781251"/>
            <a:ext cx="3276295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85432" y="1561795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500" dirty="0"/>
          </a:p>
        </p:txBody>
      </p:sp>
      <p:sp>
        <p:nvSpPr>
          <p:cNvPr id="16" name="Shape 12"/>
          <p:cNvSpPr/>
          <p:nvPr/>
        </p:nvSpPr>
        <p:spPr>
          <a:xfrm>
            <a:off x="4733849" y="205740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4A90D9">
              <a:alpha val="15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4828946" y="2180844"/>
            <a:ext cx="2862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33849" y="2686507"/>
            <a:ext cx="20674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 알고리즘 이해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733849" y="3047695"/>
            <a:ext cx="19458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라운드 기반 대중교통 경로탐색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733849" y="3247949"/>
            <a:ext cx="14602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원리 및 특징 분석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962595" y="1781251"/>
            <a:ext cx="3276295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391242" y="1561795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500" dirty="0"/>
          </a:p>
        </p:txBody>
      </p:sp>
      <p:sp>
        <p:nvSpPr>
          <p:cNvPr id="23" name="Shape 18"/>
          <p:cNvSpPr/>
          <p:nvPr/>
        </p:nvSpPr>
        <p:spPr>
          <a:xfrm>
            <a:off x="8238744" y="205740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4A90D9">
              <a:alpha val="15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8348472" y="2180844"/>
            <a:ext cx="256946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38744" y="2686507"/>
            <a:ext cx="1828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설계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238744" y="3047695"/>
            <a:ext cx="14410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GTFS 데이터 로딩부터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8238744" y="3247949"/>
            <a:ext cx="16413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경로탐색 엔진까지의 구조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704795" y="3952951"/>
            <a:ext cx="3276295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133442" y="3733495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4500" dirty="0"/>
          </a:p>
        </p:txBody>
      </p:sp>
      <p:sp>
        <p:nvSpPr>
          <p:cNvPr id="30" name="Shape 24"/>
          <p:cNvSpPr/>
          <p:nvPr/>
        </p:nvSpPr>
        <p:spPr>
          <a:xfrm>
            <a:off x="2981858" y="422910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4A90D9">
              <a:alpha val="15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3119933" y="4352544"/>
            <a:ext cx="200254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981858" y="4858207"/>
            <a:ext cx="1534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계획 및 일정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2981858" y="5219395"/>
            <a:ext cx="2117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1~3 단계별 개발 로드맵 및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2981858" y="5419649"/>
            <a:ext cx="9454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마일스톤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210605" y="3952951"/>
            <a:ext cx="3276295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638337" y="3733495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4500" dirty="0"/>
          </a:p>
        </p:txBody>
      </p:sp>
      <p:sp>
        <p:nvSpPr>
          <p:cNvPr id="37" name="Shape 30"/>
          <p:cNvSpPr/>
          <p:nvPr/>
        </p:nvSpPr>
        <p:spPr>
          <a:xfrm>
            <a:off x="6486754" y="422910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4A90D9">
              <a:alpha val="15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10198" y="4352544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486754" y="4858207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6486754" y="5219395"/>
            <a:ext cx="14886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활용성, 성능 검증,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6486754" y="5419649"/>
            <a:ext cx="14127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확장 가능성 제시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Shape 35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952805" y="6524244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1091672" y="6524244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-952805" y="-952805"/>
            <a:ext cx="4762195" cy="4762195"/>
          </a:xfrm>
          <a:prstGeom prst="ellipse">
            <a:avLst/>
          </a:prstGeom>
          <a:noFill/>
          <a:ln w="254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6695" y="1143000"/>
            <a:ext cx="7619695" cy="7619695"/>
          </a:xfrm>
          <a:prstGeom prst="ellipse">
            <a:avLst/>
          </a:prstGeom>
          <a:noFill/>
          <a:ln w="25400">
            <a:solidFill>
              <a:srgbClr val="4A90D9">
                <a:alpha val="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595274"/>
            <a:ext cx="362102" cy="3621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805" y="12188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5"/>
          <p:cNvSpPr/>
          <p:nvPr/>
        </p:nvSpPr>
        <p:spPr>
          <a:xfrm>
            <a:off x="952805" y="1304849"/>
            <a:ext cx="3813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57554" y="485546"/>
            <a:ext cx="375818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한국형 OTP인가?</a:t>
            </a:r>
            <a:endParaRPr lang="en-US" sz="3100" dirty="0"/>
          </a:p>
        </p:txBody>
      </p:sp>
      <p:sp>
        <p:nvSpPr>
          <p:cNvPr id="10" name="Shape 7"/>
          <p:cNvSpPr/>
          <p:nvPr/>
        </p:nvSpPr>
        <p:spPr>
          <a:xfrm>
            <a:off x="952805" y="3544214"/>
            <a:ext cx="43818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805" y="3200400"/>
            <a:ext cx="15270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52805" y="3838651"/>
            <a:ext cx="4381805" cy="972007"/>
          </a:xfrm>
          <a:prstGeom prst="roundRect">
            <a:avLst>
              <a:gd name="adj" fmla="val 11067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952805" y="3838651"/>
            <a:ext cx="47549" cy="97200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0" y="2082089"/>
            <a:ext cx="43818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0" y="1738274"/>
            <a:ext cx="152705" cy="1527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858000" y="2376526"/>
            <a:ext cx="4381805" cy="1171346"/>
          </a:xfrm>
          <a:prstGeom prst="roundRect">
            <a:avLst>
              <a:gd name="adj" fmla="val 7616"/>
            </a:avLst>
          </a:prstGeom>
          <a:solidFill>
            <a:srgbClr val="4A90D9">
              <a:alpha val="8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858000" y="2376526"/>
            <a:ext cx="47549" cy="117134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Shape 13"/>
          <p:cNvSpPr/>
          <p:nvPr/>
        </p:nvSpPr>
        <p:spPr>
          <a:xfrm>
            <a:off x="6858000" y="3738982"/>
            <a:ext cx="4381805" cy="1171346"/>
          </a:xfrm>
          <a:prstGeom prst="roundRect">
            <a:avLst>
              <a:gd name="adj" fmla="val 7616"/>
            </a:avLst>
          </a:prstGeom>
          <a:solidFill>
            <a:srgbClr val="4A90D9">
              <a:alpha val="8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0" y="3738982"/>
            <a:ext cx="47549" cy="117134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Shape 15"/>
          <p:cNvSpPr/>
          <p:nvPr/>
        </p:nvSpPr>
        <p:spPr>
          <a:xfrm>
            <a:off x="6858000" y="5100523"/>
            <a:ext cx="4381805" cy="1171346"/>
          </a:xfrm>
          <a:prstGeom prst="roundRect">
            <a:avLst>
              <a:gd name="adj" fmla="val 7616"/>
            </a:avLst>
          </a:prstGeom>
          <a:solidFill>
            <a:srgbClr val="4A90D9">
              <a:alpha val="8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6858000" y="5100523"/>
            <a:ext cx="47549" cy="117134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1218895" y="3105302"/>
            <a:ext cx="21817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Problems</a:t>
            </a:r>
            <a:endParaRPr lang="en-US" sz="1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85646" y="4196182"/>
            <a:ext cx="267005" cy="2670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800454" y="4067251"/>
            <a:ext cx="1538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도커 기반 속도 문제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800454" y="4381805"/>
            <a:ext cx="14410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api호출로 너무 느려짐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821985" y="4147718"/>
            <a:ext cx="638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7125005" y="1643177"/>
            <a:ext cx="1619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Our Solution</a:t>
            </a:r>
            <a:endParaRPr lang="en-US" sz="1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91756" y="2734056"/>
            <a:ext cx="267005" cy="2670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705649" y="2605126"/>
            <a:ext cx="18626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 알고리즘 추출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705649" y="2919679"/>
            <a:ext cx="338419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OTP의 핵심인 고속 경로탐색 모듈만 분리하여 경량화된 엔진 구축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157923" y="4095598"/>
            <a:ext cx="333756" cy="2670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705649" y="3967582"/>
            <a:ext cx="2110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GTFS 직접 연결 (SPI)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7705649" y="4281221"/>
            <a:ext cx="336499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 SPI 인터페이스를 구현하여 한국 대중교통 데이터와 완벽 호환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-685" r="-685" t="0" b="0"/>
          <a:stretch/>
        </p:blipFill>
        <p:spPr>
          <a:xfrm>
            <a:off x="7172554" y="5458054"/>
            <a:ext cx="304495" cy="2670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705649" y="5329123"/>
            <a:ext cx="1700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독립형 로컬 엔진 개발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7705649" y="5643677"/>
            <a:ext cx="326075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서버 없이도 동작하는 CLI 기반의 초고속(1초 미만) 경로 탐색기</a:t>
            </a:r>
            <a:endParaRPr lang="en-US" sz="11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>
            <a:alphaModFix amt="83000"/>
          </a:blip>
          <a:srcRect l="0" r="0" t="0" b="0"/>
          <a:stretch/>
        </p:blipFill>
        <p:spPr>
          <a:xfrm>
            <a:off x="5864962" y="3592678"/>
            <a:ext cx="466344" cy="466344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Shape 29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952805" y="6524244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11091672" y="6524244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595274"/>
            <a:ext cx="362102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218895"/>
            <a:ext cx="9528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457554" y="485546"/>
            <a:ext cx="291967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Goals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952805" y="1824228"/>
            <a:ext cx="5115154" cy="1266444"/>
          </a:xfrm>
          <a:prstGeom prst="roundRect">
            <a:avLst>
              <a:gd name="adj" fmla="val 651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8895" y="2024482"/>
            <a:ext cx="666598" cy="276149"/>
          </a:xfrm>
          <a:prstGeom prst="roundRect">
            <a:avLst>
              <a:gd name="adj" fmla="val 45672"/>
            </a:avLst>
          </a:prstGeom>
          <a:solidFill>
            <a:srgbClr val="47556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5705" y="2061972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074774" y="2024482"/>
            <a:ext cx="2429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OTP Raptor 모듈 완전 이해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200046" y="2385670"/>
            <a:ext cx="22128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351개 Java 파일 구조 및 기능 분석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200046" y="2638044"/>
            <a:ext cx="24606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실행 흐름 및 데이터 구조 파악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333195" y="3281782"/>
            <a:ext cx="5115154" cy="1266444"/>
          </a:xfrm>
          <a:prstGeom prst="roundRect">
            <a:avLst>
              <a:gd name="adj" fmla="val 651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00200" y="3481121"/>
            <a:ext cx="666598" cy="276149"/>
          </a:xfrm>
          <a:prstGeom prst="roundRect">
            <a:avLst>
              <a:gd name="adj" fmla="val 45672"/>
            </a:avLst>
          </a:prstGeom>
          <a:solidFill>
            <a:srgbClr val="2563E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676095" y="3519526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456078" y="3481121"/>
            <a:ext cx="1791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인터페이스 구현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580437" y="3843223"/>
            <a:ext cx="20985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GTFS 데이터 매핑 전략 수립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580437" y="4095598"/>
            <a:ext cx="27459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Service Provider Interface(SPI) 구현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714500" y="4738421"/>
            <a:ext cx="5115154" cy="1266444"/>
          </a:xfrm>
          <a:prstGeom prst="roundRect">
            <a:avLst>
              <a:gd name="adj" fmla="val 6514"/>
            </a:avLst>
          </a:prstGeom>
          <a:solidFill>
            <a:srgbClr val="4ADE80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81505" y="4938674"/>
            <a:ext cx="666598" cy="276149"/>
          </a:xfrm>
          <a:prstGeom prst="roundRect">
            <a:avLst>
              <a:gd name="adj" fmla="val 45672"/>
            </a:avLst>
          </a:prstGeom>
          <a:solidFill>
            <a:srgbClr val="16A3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057400" y="4977079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836469" y="4938674"/>
            <a:ext cx="20574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 경로탐색 엔진 완성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961742" y="5300777"/>
            <a:ext cx="20601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 기반 로컬 엔진 패키징 (JAR)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961742" y="5553151"/>
            <a:ext cx="19650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1초 이내 초고속 경로 탐색 달성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38314" y="2127809"/>
            <a:ext cx="3705149" cy="3581705"/>
          </a:xfrm>
          <a:prstGeom prst="roundRect">
            <a:avLst>
              <a:gd name="adj" fmla="val 679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482600" dist="190500" dir="5400000">
              <a:srgbClr val="000000">
                <a:alpha val="5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547458" y="2136953"/>
            <a:ext cx="3685946" cy="32369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4"/>
          <p:cNvSpPr/>
          <p:nvPr/>
        </p:nvSpPr>
        <p:spPr>
          <a:xfrm>
            <a:off x="7700162" y="2242109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Shape 25"/>
          <p:cNvSpPr/>
          <p:nvPr/>
        </p:nvSpPr>
        <p:spPr>
          <a:xfrm>
            <a:off x="7890358" y="2242109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Shape 26"/>
          <p:cNvSpPr/>
          <p:nvPr/>
        </p:nvSpPr>
        <p:spPr>
          <a:xfrm>
            <a:off x="8081467" y="2242109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366760" y="2222906"/>
            <a:ext cx="1257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korean-otp — java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738567" y="266090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913218" y="2660904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java -jar korean-raptor.jar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38567" y="2959913"/>
            <a:ext cx="19202" cy="21945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852867" y="2969971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Loading GTFS data... [Done]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38567" y="3211373"/>
            <a:ext cx="19202" cy="21945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852867" y="3221431"/>
            <a:ext cx="25868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Building Raptor graph... [Done]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738567" y="3462833"/>
            <a:ext cx="19202" cy="21945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852867" y="3472891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Server started on port 8080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738567" y="393740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913218" y="3937406"/>
            <a:ext cx="282458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find_route --from "Seoul Stn" --to "Gangnam"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738567" y="4497934"/>
            <a:ext cx="3305556" cy="1009498"/>
          </a:xfrm>
          <a:prstGeom prst="roundRect">
            <a:avLst>
              <a:gd name="adj" fmla="val 5127"/>
            </a:avLst>
          </a:prstGeom>
          <a:solidFill>
            <a:srgbClr val="4ADE80">
              <a:alpha val="10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908999" y="4612234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 Found!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9046159" y="4892040"/>
            <a:ext cx="8668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0.23s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8948318" y="5238598"/>
            <a:ext cx="96469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Execution Time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10763402" y="1841602"/>
            <a:ext cx="761695" cy="761695"/>
          </a:xfrm>
          <a:prstGeom prst="ellipse">
            <a:avLst/>
          </a:prstGeom>
          <a:solidFill>
            <a:srgbClr val="4A90D9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10977372" y="2032711"/>
            <a:ext cx="333756" cy="381305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Shape 44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952805" y="6524244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11091672" y="6524244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281" r="-281" t="0" b="0"/>
          <a:stretch/>
        </p:blipFill>
        <p:spPr>
          <a:xfrm>
            <a:off x="761695" y="500177"/>
            <a:ext cx="409651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81905" y="528523"/>
            <a:ext cx="2009851" cy="304495"/>
          </a:xfrm>
          <a:prstGeom prst="roundRect">
            <a:avLst>
              <a:gd name="adj" fmla="val 18768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076249"/>
            <a:ext cx="1143000" cy="3840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14907" y="390449"/>
            <a:ext cx="398678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 Algorithm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5296205" y="566928"/>
            <a:ext cx="1895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Microsoft Research, 2012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209751"/>
            <a:ext cx="5181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Round-Based Public Transit Optimized Router: 라운드 기반 초고속 경로탐색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72730" y="1723644"/>
            <a:ext cx="3762756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11389" y="19623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96428" y="2048256"/>
            <a:ext cx="171907" cy="17190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72730" y="3247949"/>
            <a:ext cx="3762756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11389" y="3486607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96428" y="3571646"/>
            <a:ext cx="171907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672730" y="4772254"/>
            <a:ext cx="3762756" cy="1772107"/>
          </a:xfrm>
          <a:prstGeom prst="roundRect">
            <a:avLst>
              <a:gd name="adj" fmla="val 332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911389" y="5009998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55F7">
              <a:alpha val="20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96428" y="5095951"/>
            <a:ext cx="171907" cy="171907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911389" y="5962802"/>
            <a:ext cx="3286354" cy="342900"/>
          </a:xfrm>
          <a:prstGeom prst="roundRect">
            <a:avLst>
              <a:gd name="adj" fmla="val 44444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368589" y="2005279"/>
            <a:ext cx="12719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 Raptor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911389" y="2419502"/>
            <a:ext cx="33101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시각이 아닌 시간 범위(예: 8시~9시) 내의 모든 유효한 경로를 한 번에 탐색하여 최적해 도출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8368589" y="3528670"/>
            <a:ext cx="12627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Multi-Criteria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911389" y="3943807"/>
            <a:ext cx="3376879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시간 최소화뿐만 아니라 환승 횟수 최소화, 비용 최소화 등 다중 기준 파레토 최적화 수행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8368589" y="5052974"/>
            <a:ext cx="1224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911389" y="5467198"/>
            <a:ext cx="32909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Priority Queue를 사용하지 않는 배열 기반 접근으로 선형 시간 복잡도 달성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8473745" y="6048756"/>
            <a:ext cx="22558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Time Complexity: O(K × R × T)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61695" y="1723644"/>
            <a:ext cx="6439205" cy="4819802"/>
          </a:xfrm>
          <a:prstGeom prst="roundRect">
            <a:avLst>
              <a:gd name="adj" fmla="val 6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476756" y="2864815"/>
            <a:ext cx="19202" cy="25338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>
            <a:alphaModFix amt="30000"/>
          </a:blip>
          <a:srcRect l="0" r="0" t="0" b="0"/>
          <a:stretch/>
        </p:blipFill>
        <p:spPr>
          <a:xfrm>
            <a:off x="5853989" y="3493008"/>
            <a:ext cx="952805" cy="9528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026810" y="4540910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1248156" y="2585923"/>
            <a:ext cx="476402" cy="4764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1923" r="-1923" t="0" b="0"/>
          <a:stretch/>
        </p:blipFill>
        <p:spPr>
          <a:xfrm>
            <a:off x="1423721" y="2728570"/>
            <a:ext cx="123444" cy="19019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1914754" y="2483510"/>
            <a:ext cx="4990795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26"/>
          <p:cNvSpPr/>
          <p:nvPr/>
        </p:nvSpPr>
        <p:spPr>
          <a:xfrm>
            <a:off x="1914754" y="2483510"/>
            <a:ext cx="38405" cy="685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2143354" y="2607869"/>
            <a:ext cx="13597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Round 0 (Initial)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2143354" y="2821838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출발지 도보 접근 가능한 정류장 탐색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1248156" y="3457346"/>
            <a:ext cx="476402" cy="476402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39700" dist="12700" dir="16200000">
              <a:srgbClr val="f59e0b">
                <a:alpha val="2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914754" y="3354934"/>
            <a:ext cx="4990795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Shape 31"/>
          <p:cNvSpPr/>
          <p:nvPr/>
        </p:nvSpPr>
        <p:spPr>
          <a:xfrm>
            <a:off x="1914754" y="3354934"/>
            <a:ext cx="38405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1429207" y="3571646"/>
            <a:ext cx="2578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2143354" y="3479292"/>
            <a:ext cx="17318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Round 1 (Transfers: 0)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2143354" y="369326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번째 대중교통 탑승 (환승 없음)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1248156" y="4328770"/>
            <a:ext cx="476402" cy="476402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39700" dist="12700" dir="16200000">
              <a:srgbClr val="f59e0b">
                <a:alpha val="2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1914754" y="4226357"/>
            <a:ext cx="4990795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5" name="Shape 37"/>
          <p:cNvSpPr/>
          <p:nvPr/>
        </p:nvSpPr>
        <p:spPr>
          <a:xfrm>
            <a:off x="1914754" y="4226357"/>
            <a:ext cx="38405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1429207" y="4443070"/>
            <a:ext cx="2578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2143354" y="4350715"/>
            <a:ext cx="17318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Round 2 (Transfers: 1)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2143354" y="4564685"/>
            <a:ext cx="25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1회 환승으로 도달 가능한 정류장 확장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1248156" y="5201107"/>
            <a:ext cx="476402" cy="4764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914754" y="5098694"/>
            <a:ext cx="4990795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1" name="Shape 43"/>
          <p:cNvSpPr/>
          <p:nvPr/>
        </p:nvSpPr>
        <p:spPr>
          <a:xfrm>
            <a:off x="1914754" y="5098694"/>
            <a:ext cx="38405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2" name="Text 44"/>
          <p:cNvSpPr txBox="1"/>
          <p:nvPr/>
        </p:nvSpPr>
        <p:spPr>
          <a:xfrm>
            <a:off x="1429207" y="5315407"/>
            <a:ext cx="2578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</a:t>
            </a:r>
            <a:endParaRPr lang="en-US" sz="1500" dirty="0"/>
          </a:p>
        </p:txBody>
      </p:sp>
      <p:sp>
        <p:nvSpPr>
          <p:cNvPr id="53" name="Text 45"/>
          <p:cNvSpPr txBox="1"/>
          <p:nvPr/>
        </p:nvSpPr>
        <p:spPr>
          <a:xfrm>
            <a:off x="2143354" y="5222138"/>
            <a:ext cx="18836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Round K (Transfers: K-1)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2143354" y="5436108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경로 발견 시까지 반복 수행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0" y="6920179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6" name="Shape 48"/>
          <p:cNvSpPr/>
          <p:nvPr/>
        </p:nvSpPr>
        <p:spPr>
          <a:xfrm>
            <a:off x="0" y="6920179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761695" y="7062826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58" name="Text 50"/>
          <p:cNvSpPr txBox="1"/>
          <p:nvPr/>
        </p:nvSpPr>
        <p:spPr>
          <a:xfrm>
            <a:off x="11281867" y="706282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56" b="-856"/>
          <a:stretch/>
        </p:blipFill>
        <p:spPr>
          <a:xfrm>
            <a:off x="761695" y="500177"/>
            <a:ext cx="267005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123798"/>
            <a:ext cx="9528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71346" y="390449"/>
            <a:ext cx="649132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(Service Provider Interface)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1238098"/>
            <a:ext cx="4920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OTP Raptor 모듈과 한국 GTFS 데이터를 연결하는 핵심 인터페이스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1695" y="1781251"/>
            <a:ext cx="10668305" cy="2800807"/>
          </a:xfrm>
          <a:prstGeom prst="roundRect">
            <a:avLst>
              <a:gd name="adj" fmla="val 1777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19449" y="3160166"/>
            <a:ext cx="4552798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Shape 7"/>
          <p:cNvSpPr/>
          <p:nvPr/>
        </p:nvSpPr>
        <p:spPr>
          <a:xfrm>
            <a:off x="3819449" y="3083357"/>
            <a:ext cx="142646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3083357"/>
            <a:ext cx="142646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1695" y="4862779"/>
            <a:ext cx="10668305" cy="809244"/>
          </a:xfrm>
          <a:prstGeom prst="roundRect">
            <a:avLst>
              <a:gd name="adj" fmla="val 13293"/>
            </a:avLst>
          </a:prstGeom>
          <a:solidFill>
            <a:srgbClr val="4A90D9">
              <a:alpha val="1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3544" y="511515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990295" y="5191049"/>
            <a:ext cx="171907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43254" y="5024628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343254" y="5262372"/>
            <a:ext cx="2710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RaptorTransitDataProvider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47127" y="5159959"/>
            <a:ext cx="3736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대중교통 데이터를 Raptor 엔진에 제공하는 메인 진입점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6442" y="5723230"/>
            <a:ext cx="3429000" cy="1076249"/>
          </a:xfrm>
          <a:prstGeom prst="roundRect">
            <a:avLst>
              <a:gd name="adj" fmla="val 75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959206" y="6196889"/>
            <a:ext cx="114300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59206" y="5885078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★★★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49401" y="6142025"/>
            <a:ext cx="1650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RaptorTripSchedule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959206" y="6441948"/>
            <a:ext cx="19504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운행 정보(Trip) 및 시간표 관리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337914" y="5767121"/>
            <a:ext cx="3429000" cy="1067105"/>
          </a:xfrm>
          <a:prstGeom prst="roundRect">
            <a:avLst>
              <a:gd name="adj" fmla="val 765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99762" y="6240780"/>
            <a:ext cx="133502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499762" y="5928970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★★★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4709160" y="6185916"/>
            <a:ext cx="1564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RaptorTripPattern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499762" y="6485839"/>
            <a:ext cx="20272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경로/정차 패턴을 가진 운행 그룹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001000" y="5723230"/>
            <a:ext cx="3429000" cy="1076249"/>
          </a:xfrm>
          <a:prstGeom prst="roundRect">
            <a:avLst>
              <a:gd name="adj" fmla="val 75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62849" y="6196889"/>
            <a:ext cx="133502" cy="1335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162849" y="5885078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★★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8372246" y="6142025"/>
            <a:ext cx="13075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RaptorTransfer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8162849" y="6441948"/>
            <a:ext cx="16367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정류장 간 도보 환승 정보 정의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1152144" y="1790395"/>
            <a:ext cx="2667305" cy="2781605"/>
          </a:xfrm>
          <a:prstGeom prst="roundRect">
            <a:avLst>
              <a:gd name="adj" fmla="val 1469"/>
            </a:avLst>
          </a:prstGeom>
          <a:solidFill>
            <a:srgbClr val="1E293B">
              <a:alpha val="80000"/>
            </a:srgbClr>
          </a:solidFill>
          <a:ln w="25400">
            <a:solidFill>
              <a:srgbClr val="60A5FA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3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1362456" y="2353666"/>
            <a:ext cx="2247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1362456" y="2014423"/>
            <a:ext cx="200254" cy="2286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362456" y="2553005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39066" r="-39066" t="0" b="0"/>
          <a:stretch/>
        </p:blipFill>
        <p:spPr>
          <a:xfrm>
            <a:off x="1457554" y="2645359"/>
            <a:ext cx="152705" cy="1143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686154" y="2609698"/>
            <a:ext cx="7699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stops.txt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1362456" y="2928823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39066" r="-39066" t="0" b="0"/>
          <a:stretch/>
        </p:blipFill>
        <p:spPr>
          <a:xfrm>
            <a:off x="1457554" y="3022092"/>
            <a:ext cx="152705" cy="1143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686154" y="2986430"/>
            <a:ext cx="8458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routes.txt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1362456" y="3305556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-39066" r="-39066" t="0" b="0"/>
          <a:stretch/>
        </p:blipFill>
        <p:spPr>
          <a:xfrm>
            <a:off x="1457554" y="3397910"/>
            <a:ext cx="152705" cy="1143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686154" y="3362249"/>
            <a:ext cx="7699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trips.txt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1362456" y="3681374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-39066" r="-39066" t="0" b="0"/>
          <a:stretch/>
        </p:blipFill>
        <p:spPr>
          <a:xfrm>
            <a:off x="1457554" y="3774643"/>
            <a:ext cx="152705" cy="11430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1686154" y="3738982"/>
            <a:ext cx="11411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stop_times.txt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1362456" y="4058107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-39066" r="-39066" t="0" b="0"/>
          <a:stretch/>
        </p:blipFill>
        <p:spPr>
          <a:xfrm>
            <a:off x="1457554" y="4150462"/>
            <a:ext cx="152705" cy="11430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1686154" y="4114800"/>
            <a:ext cx="10652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transfers.txt</a:t>
            </a:r>
            <a:endParaRPr lang="en-US" sz="900" dirty="0"/>
          </a:p>
        </p:txBody>
      </p:sp>
      <p:sp>
        <p:nvSpPr>
          <p:cNvPr id="51" name="Text 38"/>
          <p:cNvSpPr txBox="1"/>
          <p:nvPr/>
        </p:nvSpPr>
        <p:spPr>
          <a:xfrm>
            <a:off x="1657807" y="2000707"/>
            <a:ext cx="1443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GTFS 데이터</a:t>
            </a:r>
            <a:endParaRPr lang="en-US" sz="1300" dirty="0"/>
          </a:p>
        </p:txBody>
      </p:sp>
      <p:sp>
        <p:nvSpPr>
          <p:cNvPr id="52" name="Shape 39"/>
          <p:cNvSpPr/>
          <p:nvPr/>
        </p:nvSpPr>
        <p:spPr>
          <a:xfrm>
            <a:off x="8372246" y="1790395"/>
            <a:ext cx="2667305" cy="2781605"/>
          </a:xfrm>
          <a:prstGeom prst="roundRect">
            <a:avLst>
              <a:gd name="adj" fmla="val 1469"/>
            </a:avLst>
          </a:prstGeom>
          <a:solidFill>
            <a:srgbClr val="1E293B">
              <a:alpha val="80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30000"/>
              </a:srgbClr>
            </a:outerShdw>
          </a:effectLst>
        </p:spPr>
      </p:sp>
      <p:sp>
        <p:nvSpPr>
          <p:cNvPr id="53" name="Shape 40"/>
          <p:cNvSpPr/>
          <p:nvPr/>
        </p:nvSpPr>
        <p:spPr>
          <a:xfrm>
            <a:off x="8581644" y="2353666"/>
            <a:ext cx="2247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-80" r="-80" t="0" b="0"/>
          <a:stretch/>
        </p:blipFill>
        <p:spPr>
          <a:xfrm>
            <a:off x="8581644" y="2014423"/>
            <a:ext cx="286207" cy="228600"/>
          </a:xfrm>
          <a:prstGeom prst="rect">
            <a:avLst/>
          </a:prstGeom>
        </p:spPr>
      </p:pic>
      <p:sp>
        <p:nvSpPr>
          <p:cNvPr id="55" name="Shape 41"/>
          <p:cNvSpPr/>
          <p:nvPr/>
        </p:nvSpPr>
        <p:spPr>
          <a:xfrm>
            <a:off x="8581644" y="2553005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rcRect l="-16800" r="-16800" t="0" b="0"/>
          <a:stretch/>
        </p:blipFill>
        <p:spPr>
          <a:xfrm>
            <a:off x="8677656" y="2645359"/>
            <a:ext cx="152705" cy="114300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8906256" y="2609698"/>
            <a:ext cx="9125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RangeRaptor</a:t>
            </a:r>
            <a:endParaRPr lang="en-US" sz="900" dirty="0"/>
          </a:p>
        </p:txBody>
      </p:sp>
      <p:sp>
        <p:nvSpPr>
          <p:cNvPr id="58" name="Shape 43"/>
          <p:cNvSpPr/>
          <p:nvPr/>
        </p:nvSpPr>
        <p:spPr>
          <a:xfrm>
            <a:off x="8581644" y="2928823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rcRect l="-16800" r="-16800" t="0" b="0"/>
          <a:stretch/>
        </p:blipFill>
        <p:spPr>
          <a:xfrm>
            <a:off x="8677656" y="3022092"/>
            <a:ext cx="152705" cy="114300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8906256" y="2986430"/>
            <a:ext cx="6931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McRaptor</a:t>
            </a:r>
            <a:endParaRPr lang="en-US" sz="900" dirty="0"/>
          </a:p>
        </p:txBody>
      </p:sp>
      <p:sp>
        <p:nvSpPr>
          <p:cNvPr id="61" name="Shape 45"/>
          <p:cNvSpPr/>
          <p:nvPr/>
        </p:nvSpPr>
        <p:spPr>
          <a:xfrm>
            <a:off x="8581644" y="3305556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rcRect l="-39066" r="-39066" t="0" b="0"/>
          <a:stretch/>
        </p:blipFill>
        <p:spPr>
          <a:xfrm>
            <a:off x="8677656" y="3397910"/>
            <a:ext cx="152705" cy="114300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8906256" y="3362249"/>
            <a:ext cx="988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RaptorWorker</a:t>
            </a:r>
            <a:endParaRPr lang="en-US" sz="900" dirty="0"/>
          </a:p>
        </p:txBody>
      </p:sp>
      <p:sp>
        <p:nvSpPr>
          <p:cNvPr id="64" name="Shape 47"/>
          <p:cNvSpPr/>
          <p:nvPr/>
        </p:nvSpPr>
        <p:spPr>
          <a:xfrm>
            <a:off x="8581644" y="3681374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rcRect l="-16800" r="-16800" t="0" b="0"/>
          <a:stretch/>
        </p:blipFill>
        <p:spPr>
          <a:xfrm>
            <a:off x="8677656" y="3774643"/>
            <a:ext cx="152705" cy="114300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8906256" y="3738982"/>
            <a:ext cx="8458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TimeWindow</a:t>
            </a:r>
            <a:endParaRPr lang="en-US" sz="900" dirty="0"/>
          </a:p>
        </p:txBody>
      </p:sp>
      <p:sp>
        <p:nvSpPr>
          <p:cNvPr id="67" name="Shape 49"/>
          <p:cNvSpPr/>
          <p:nvPr/>
        </p:nvSpPr>
        <p:spPr>
          <a:xfrm>
            <a:off x="8581644" y="4058107"/>
            <a:ext cx="2247595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68" name="Image 16" descr="preencoded.png">    </p:cNvPr>
          <p:cNvPicPr>
            <a:picLocks noChangeAspect="1"/>
          </p:cNvPicPr>
          <p:nvPr/>
        </p:nvPicPr>
        <p:blipFill>
          <a:blip r:embed="rId17"/>
          <a:srcRect l="-16800" r="-16800" t="0" b="0"/>
          <a:stretch/>
        </p:blipFill>
        <p:spPr>
          <a:xfrm>
            <a:off x="8677656" y="4150462"/>
            <a:ext cx="152705" cy="114300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8906256" y="4114800"/>
            <a:ext cx="10652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SearchRequest</a:t>
            </a:r>
            <a:endParaRPr lang="en-US" sz="900" dirty="0"/>
          </a:p>
        </p:txBody>
      </p:sp>
      <p:sp>
        <p:nvSpPr>
          <p:cNvPr id="70" name="Text 51"/>
          <p:cNvSpPr txBox="1"/>
          <p:nvPr/>
        </p:nvSpPr>
        <p:spPr>
          <a:xfrm>
            <a:off x="8962949" y="2000707"/>
            <a:ext cx="1890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OTP RAPTOR Module</a:t>
            </a:r>
            <a:endParaRPr lang="en-US" sz="1300" dirty="0"/>
          </a:p>
        </p:txBody>
      </p:sp>
      <p:sp>
        <p:nvSpPr>
          <p:cNvPr id="71" name="Shape 52"/>
          <p:cNvSpPr/>
          <p:nvPr/>
        </p:nvSpPr>
        <p:spPr>
          <a:xfrm>
            <a:off x="4996282" y="3384194"/>
            <a:ext cx="2200046" cy="295351"/>
          </a:xfrm>
          <a:prstGeom prst="roundRect">
            <a:avLst>
              <a:gd name="adj" fmla="val 149805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72" name="Text 53"/>
          <p:cNvSpPr txBox="1"/>
          <p:nvPr/>
        </p:nvSpPr>
        <p:spPr>
          <a:xfrm>
            <a:off x="5138928" y="3431743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Interface Implementation</a:t>
            </a:r>
            <a:endParaRPr lang="en-US" sz="1000" dirty="0"/>
          </a:p>
        </p:txBody>
      </p:sp>
      <p:sp>
        <p:nvSpPr>
          <p:cNvPr id="73" name="Shape 54"/>
          <p:cNvSpPr/>
          <p:nvPr/>
        </p:nvSpPr>
        <p:spPr>
          <a:xfrm>
            <a:off x="5205679" y="2679192"/>
            <a:ext cx="1781251" cy="514807"/>
          </a:xfrm>
          <a:prstGeom prst="roundRect">
            <a:avLst>
              <a:gd name="adj" fmla="val 98678"/>
            </a:avLst>
          </a:prstGeom>
          <a:solidFill>
            <a:srgbClr val="1E3A5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90500" dist="12700" dir="16200000">
              <a:srgbClr val="4a90d9">
                <a:alpha val="30000"/>
              </a:srgbClr>
            </a:outerShdw>
          </a:effectLst>
        </p:spPr>
      </p:sp>
      <p:pic>
        <p:nvPicPr>
          <p:cNvPr id="7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510174" y="2841041"/>
            <a:ext cx="190195" cy="190195"/>
          </a:xfrm>
          <a:prstGeom prst="rect">
            <a:avLst/>
          </a:prstGeom>
        </p:spPr>
      </p:pic>
      <p:sp>
        <p:nvSpPr>
          <p:cNvPr id="75" name="Text 55"/>
          <p:cNvSpPr txBox="1"/>
          <p:nvPr/>
        </p:nvSpPr>
        <p:spPr>
          <a:xfrm>
            <a:off x="5796382" y="2793492"/>
            <a:ext cx="10287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Layer</a:t>
            </a:r>
            <a:endParaRPr lang="en-US" sz="1500" dirty="0"/>
          </a:p>
        </p:txBody>
      </p:sp>
      <p:sp>
        <p:nvSpPr>
          <p:cNvPr id="76" name="Shape 56"/>
          <p:cNvSpPr/>
          <p:nvPr/>
        </p:nvSpPr>
        <p:spPr>
          <a:xfrm>
            <a:off x="0" y="7310628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7" name="Shape 57"/>
          <p:cNvSpPr/>
          <p:nvPr/>
        </p:nvSpPr>
        <p:spPr>
          <a:xfrm>
            <a:off x="0" y="7310628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8" name="Text 58"/>
          <p:cNvSpPr txBox="1"/>
          <p:nvPr/>
        </p:nvSpPr>
        <p:spPr>
          <a:xfrm>
            <a:off x="761695" y="7453274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79" name="Text 59"/>
          <p:cNvSpPr txBox="1"/>
          <p:nvPr/>
        </p:nvSpPr>
        <p:spPr>
          <a:xfrm>
            <a:off x="11281867" y="7453274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281" r="-281" t="0" b="0"/>
          <a:stretch/>
        </p:blipFill>
        <p:spPr>
          <a:xfrm>
            <a:off x="761695" y="500177"/>
            <a:ext cx="409651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123798"/>
            <a:ext cx="9528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314907" y="390449"/>
            <a:ext cx="4291279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Architecture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3133649" y="4107485"/>
            <a:ext cx="2857500" cy="952805"/>
          </a:xfrm>
          <a:prstGeom prst="roundRect">
            <a:avLst>
              <a:gd name="adj" fmla="val 9597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1923" r="-1923" t="0" b="0"/>
          <a:stretch/>
        </p:blipFill>
        <p:spPr>
          <a:xfrm>
            <a:off x="4500677" y="4230929"/>
            <a:ext cx="123444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853282" y="4497934"/>
            <a:ext cx="15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Transfer Generator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499409" y="4774082"/>
            <a:ext cx="22201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Nearby Stops &amp; Walk Calculation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475281" y="1412748"/>
            <a:ext cx="1904695" cy="952805"/>
          </a:xfrm>
          <a:prstGeom prst="roundRect">
            <a:avLst>
              <a:gd name="adj" fmla="val 9597"/>
            </a:avLst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3342132" y="1537106"/>
            <a:ext cx="171907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76956" y="1803197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GTFS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027578" y="2079346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공공데이터포털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61281" y="1412748"/>
            <a:ext cx="1904695" cy="952805"/>
          </a:xfrm>
          <a:prstGeom prst="roundRect">
            <a:avLst>
              <a:gd name="adj" fmla="val 9597"/>
            </a:avLst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5604358" y="1537106"/>
            <a:ext cx="219456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81244" y="1803197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OSM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267858" y="2079346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Geofabrik PBF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2285086" y="2650846"/>
            <a:ext cx="2104949" cy="952805"/>
          </a:xfrm>
          <a:prstGeom prst="roundRect">
            <a:avLst>
              <a:gd name="adj" fmla="val 9597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237890" y="2775204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2861158" y="3041294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GTFS Loader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2715768" y="3318358"/>
            <a:ext cx="13240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Parser &amp; Validator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761281" y="2650846"/>
            <a:ext cx="2095805" cy="952805"/>
          </a:xfrm>
          <a:prstGeom prst="roundRect">
            <a:avLst>
              <a:gd name="adj" fmla="val 9597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1282" r="-1282" t="0" b="0"/>
          <a:stretch/>
        </p:blipFill>
        <p:spPr>
          <a:xfrm>
            <a:off x="5699455" y="2775204"/>
            <a:ext cx="219456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189220" y="304129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OSM Loader + A*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5123383" y="3318358"/>
            <a:ext cx="1467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Street Graph Builder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2189988" y="5127955"/>
            <a:ext cx="4762195" cy="972007"/>
          </a:xfrm>
          <a:prstGeom prst="roundRect">
            <a:avLst>
              <a:gd name="adj" fmla="val 9223"/>
            </a:avLst>
          </a:prstGeom>
          <a:solidFill>
            <a:srgbClr val="2563EB">
              <a:alpha val="80000"/>
            </a:srgbClr>
          </a:solidFill>
          <a:ln w="25400">
            <a:solidFill>
              <a:srgbClr val="60A5FA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99762" y="5261458"/>
            <a:ext cx="142646" cy="1901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306470" y="5527548"/>
            <a:ext cx="2648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TransitData (SPI Implementation)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2719426" y="5803697"/>
            <a:ext cx="3791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RaptorTransitDataProvider / TripSchedule / TripPattern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7305142" y="3631082"/>
            <a:ext cx="4762195" cy="952805"/>
          </a:xfrm>
          <a:prstGeom prst="roundRect">
            <a:avLst>
              <a:gd name="adj" fmla="val 9597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567367" y="3755441"/>
            <a:ext cx="237744" cy="19019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320126" y="4021531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OTP RAPTOR MODULE (Existing JAR)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8691372" y="4297680"/>
            <a:ext cx="2076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RangeRaptor / McRaptor Engine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3141878" y="7623353"/>
            <a:ext cx="2857500" cy="952805"/>
          </a:xfrm>
          <a:prstGeom prst="roundRect">
            <a:avLst>
              <a:gd name="adj" fmla="val 9597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-1282" r="-1282" t="0" b="0"/>
          <a:stretch/>
        </p:blipFill>
        <p:spPr>
          <a:xfrm>
            <a:off x="4461358" y="7746797"/>
            <a:ext cx="219456" cy="19019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113886" y="8022946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CLI Output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3850538" y="8289950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Path Result JSON/Text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9493301" y="7558430"/>
            <a:ext cx="1943100" cy="1057046"/>
          </a:xfrm>
          <a:prstGeom prst="roundRect">
            <a:avLst>
              <a:gd name="adj" fmla="val 6235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9646006" y="7727594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9646006" y="800831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9646006" y="8289036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9892894" y="7710221"/>
            <a:ext cx="14840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영역 (Custom Code)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9892894" y="7991856"/>
            <a:ext cx="10652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OTP 모듈 (Reuse)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9892894" y="8272577"/>
            <a:ext cx="96926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데이터 소스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0" y="8801100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Shape 36"/>
          <p:cNvSpPr/>
          <p:nvPr/>
        </p:nvSpPr>
        <p:spPr>
          <a:xfrm>
            <a:off x="0" y="88011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8" name="Text 37"/>
          <p:cNvSpPr txBox="1"/>
          <p:nvPr/>
        </p:nvSpPr>
        <p:spPr>
          <a:xfrm>
            <a:off x="761695" y="8943746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11281867" y="894374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281" r="-281" t="0" b="0"/>
          <a:stretch/>
        </p:blipFill>
        <p:spPr>
          <a:xfrm>
            <a:off x="761695" y="500177"/>
            <a:ext cx="409651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123798"/>
            <a:ext cx="9528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314907" y="390449"/>
            <a:ext cx="369143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Structure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904074" y="2180844"/>
            <a:ext cx="3534156" cy="1657807"/>
          </a:xfrm>
          <a:prstGeom prst="roundRect">
            <a:avLst>
              <a:gd name="adj" fmla="val 380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04327" y="2419502"/>
            <a:ext cx="152705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32927" y="2381098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Importance Level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104327" y="2795321"/>
            <a:ext cx="114300" cy="114300"/>
          </a:xfrm>
          <a:prstGeom prst="ellipse">
            <a:avLst/>
          </a:prstGeom>
          <a:solidFill>
            <a:srgbClr val="F87171"/>
          </a:solidFill>
          <a:ln/>
          <a:effectLst>
            <a:outerShdw sx="100000" sy="100000" kx="0" ky="0" algn="bl" rotWithShape="0" blurRad="76200" dist="12700" dir="16200000">
              <a:srgbClr val="f87171">
                <a:alpha val="5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104327" y="3090672"/>
            <a:ext cx="114300" cy="1143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12700" dir="16200000">
              <a:srgbClr val="fbbf24">
                <a:alpha val="5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104327" y="3386023"/>
            <a:ext cx="114300" cy="1143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332927" y="2752344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804758" y="2752344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(SPI Implementation)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522915" y="2766974"/>
            <a:ext cx="800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OTP 연결 핵심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332927" y="304769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Important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993124" y="3047695"/>
            <a:ext cx="853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(Core Logic)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534802" y="3062326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구동 필수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8332927" y="3343046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Supporting (Helpers)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0534802" y="3357677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로딩 등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61695" y="1447495"/>
            <a:ext cx="6762902" cy="4953305"/>
          </a:xfrm>
          <a:prstGeom prst="roundRect">
            <a:avLst>
              <a:gd name="adj" fmla="val 42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292100" dist="1016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61949" y="1600200"/>
            <a:ext cx="114300" cy="11430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9"/>
          <p:cNvSpPr/>
          <p:nvPr/>
        </p:nvSpPr>
        <p:spPr>
          <a:xfrm>
            <a:off x="1152144" y="1600200"/>
            <a:ext cx="114300" cy="1143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0"/>
          <p:cNvSpPr/>
          <p:nvPr/>
        </p:nvSpPr>
        <p:spPr>
          <a:xfrm>
            <a:off x="1343254" y="1600200"/>
            <a:ext cx="114300" cy="11430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343254" y="1990649"/>
            <a:ext cx="5993892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korean-otp/ core/ KoreanRaptor.java // Main Engine KoreanRaptorBuilder.java gtfs/ model/ // GtfsStop, GtfsRoute... GtfsLoader.java osm/ graph/ AStar.java // Walking routing transfer/ TransferGenerator.java raptor/ spi/ KoreanTransitDataProvider.java KoreanTripSchedule.java KoreanTripPattern.java data/ TransitData.java Main.java // CLI Entry Point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904074" y="4123944"/>
            <a:ext cx="3534156" cy="1543507"/>
          </a:xfrm>
          <a:prstGeom prst="roundRect">
            <a:avLst>
              <a:gd name="adj" fmla="val 4388"/>
            </a:avLst>
          </a:prstGeom>
          <a:solidFill>
            <a:srgbClr val="4A90D9">
              <a:alpha val="1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182198" y="3991356"/>
            <a:ext cx="381305" cy="381305"/>
          </a:xfrm>
          <a:prstGeom prst="ellipse">
            <a:avLst/>
          </a:prstGeom>
          <a:solidFill>
            <a:srgbClr val="1E3A5F"/>
          </a:solidFill>
          <a:ln w="25400">
            <a:solidFill>
              <a:srgbClr val="4A90D9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11306556" y="4095598"/>
            <a:ext cx="133502" cy="17190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104327" y="4334256"/>
            <a:ext cx="3155594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OTP Raptor 모듈은 SPI(Service Provider Interface)를 통해 데이터를 주입받습니다. 따라서 raptor/spi 패키지 내의 클래스들을 구현하여 한국 GTFS 데이터를 Raptor가 이해할 수 있는 형태로 변환하는 것이 프로젝트의 핵심입니다.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0" y="6782105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Shape 26"/>
          <p:cNvSpPr/>
          <p:nvPr/>
        </p:nvSpPr>
        <p:spPr>
          <a:xfrm>
            <a:off x="0" y="6782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61695" y="6924751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1281867" y="6924751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1695" y="500177"/>
            <a:ext cx="362102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123798"/>
            <a:ext cx="9528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66444" y="390449"/>
            <a:ext cx="49962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Implementation Phases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1524305" y="1686154"/>
            <a:ext cx="9144000" cy="3840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524305" y="1686154"/>
            <a:ext cx="6629400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400300"/>
            <a:ext cx="3238805" cy="3810305"/>
          </a:xfrm>
          <a:prstGeom prst="roundRect">
            <a:avLst>
              <a:gd name="adj" fmla="val 9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" y="3314700"/>
            <a:ext cx="3219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1754" y="3510382"/>
            <a:ext cx="294619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Loading: 공공데이터포털 GTFS 파일 로드 및 유효성 검사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1754" y="4052621"/>
            <a:ext cx="1974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stops.txt 파싱 (21만개 정류장)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1754" y="4381805"/>
            <a:ext cx="19559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routes.txt 파싱 (2.7만개 노선)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1754" y="4710074"/>
            <a:ext cx="27267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trips.txt &amp; stop_times.txt 파싱 (운행정보)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1754" y="5038344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transfers.txt 환승 정보 생성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" y="5682082"/>
            <a:ext cx="3219602" cy="523951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71754" y="5824728"/>
            <a:ext cx="819302" cy="237744"/>
          </a:xfrm>
          <a:prstGeom prst="roundRect">
            <a:avLst>
              <a:gd name="adj" fmla="val 307692"/>
            </a:avLst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359" b="-1359"/>
          <a:stretch/>
        </p:blipFill>
        <p:spPr>
          <a:xfrm>
            <a:off x="3504895" y="5879592"/>
            <a:ext cx="105156" cy="1234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1754" y="2600554"/>
            <a:ext cx="6839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771754" y="2833726"/>
            <a:ext cx="1429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GTFS 파서 개발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866851" y="5862218"/>
            <a:ext cx="7077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COMPLETED</a:t>
            </a:r>
            <a:endParaRPr lang="en-US" sz="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3952951" y="3733495"/>
            <a:ext cx="142646" cy="228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952244" y="1638605"/>
            <a:ext cx="476402" cy="476402"/>
          </a:xfrm>
          <a:prstGeom prst="ellipse">
            <a:avLst/>
          </a:prstGeom>
          <a:solidFill>
            <a:srgbClr val="60A5FA"/>
          </a:solidFill>
          <a:ln w="508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" dist="12700" dir="16200000">
              <a:srgbClr val="ffffff">
                <a:alpha val="5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2132381" y="1733702"/>
            <a:ext cx="267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7905902" y="3733495"/>
            <a:ext cx="142646" cy="2286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857646" y="1638605"/>
            <a:ext cx="476402" cy="476402"/>
          </a:xfrm>
          <a:prstGeom prst="ellipse">
            <a:avLst/>
          </a:prstGeom>
          <a:solidFill>
            <a:srgbClr val="F59E0B"/>
          </a:solidFill>
          <a:ln w="508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" dist="12700" dir="16200000">
              <a:srgbClr val="f59e0b">
                <a:alpha val="20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6037783" y="1733702"/>
            <a:ext cx="267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4395521" y="2305202"/>
            <a:ext cx="3400654" cy="4000500"/>
          </a:xfrm>
          <a:prstGeom prst="roundRect">
            <a:avLst>
              <a:gd name="adj" fmla="val 904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92100" dist="1016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05579" y="3268066"/>
            <a:ext cx="33814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4605833" y="3470148"/>
            <a:ext cx="3088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Mapping: 한국형 데이터 모델을 OTP 인터페이스에 매핑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4605833" y="4039819"/>
            <a:ext cx="3088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RaptorTransitDataProvider 구현 (메인 공급자)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4605833" y="4610405"/>
            <a:ext cx="2383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RaptorTripSchedule 구현 (시간표)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4605833" y="4955134"/>
            <a:ext cx="2555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RaptorTripPattern 구현 (패턴 그룹화)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4605833" y="5300777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RaptorTransfer 구현 (도보 환승)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405579" y="5750662"/>
            <a:ext cx="3381451" cy="552298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4605833" y="5900623"/>
            <a:ext cx="933602" cy="247802"/>
          </a:xfrm>
          <a:prstGeom prst="roundRect">
            <a:avLst>
              <a:gd name="adj" fmla="val 283849"/>
            </a:avLst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62" b="-1862"/>
          <a:stretch/>
        </p:blipFill>
        <p:spPr>
          <a:xfrm>
            <a:off x="7415784" y="5952744"/>
            <a:ext cx="171907" cy="14264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605833" y="2515514"/>
            <a:ext cx="712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605833" y="2759659"/>
            <a:ext cx="18772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인터페이스 구현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4705502" y="5940857"/>
            <a:ext cx="812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6692494" y="1543507"/>
            <a:ext cx="838505" cy="247802"/>
          </a:xfrm>
          <a:prstGeom prst="roundRect">
            <a:avLst>
              <a:gd name="adj" fmla="val 5677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42" name="Text 35"/>
          <p:cNvSpPr txBox="1"/>
          <p:nvPr/>
        </p:nvSpPr>
        <p:spPr>
          <a:xfrm>
            <a:off x="6787591" y="1580998"/>
            <a:ext cx="734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TASK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382305" y="2400300"/>
            <a:ext cx="3238805" cy="3810305"/>
          </a:xfrm>
          <a:prstGeom prst="roundRect">
            <a:avLst>
              <a:gd name="adj" fmla="val 9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391449" y="3314700"/>
            <a:ext cx="3219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8581644" y="3510382"/>
            <a:ext cx="294619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Integration: Raptor 모듈(JAR) 연동 및 빌드 테스트</a:t>
            </a:r>
            <a:endParaRPr lang="en-US" sz="11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8581644" y="4081882"/>
            <a:ext cx="114300" cy="133502"/>
          </a:xfrm>
          <a:prstGeom prst="rect">
            <a:avLst/>
          </a:prstGeom>
        </p:spPr>
      </p:pic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8581644" y="4410151"/>
            <a:ext cx="114300" cy="133502"/>
          </a:xfrm>
          <a:prstGeom prst="rect">
            <a:avLst/>
          </a:prstGeom>
        </p:spPr>
      </p:pic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8581644" y="4738421"/>
            <a:ext cx="114300" cy="133502"/>
          </a:xfrm>
          <a:prstGeom prst="rect">
            <a:avLst/>
          </a:prstGeom>
        </p:spPr>
      </p:pic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8581644" y="5067605"/>
            <a:ext cx="114300" cy="133502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8391449" y="5682082"/>
            <a:ext cx="3219602" cy="523951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1" name="Shape 40"/>
          <p:cNvSpPr/>
          <p:nvPr/>
        </p:nvSpPr>
        <p:spPr>
          <a:xfrm>
            <a:off x="8581644" y="5824728"/>
            <a:ext cx="761695" cy="237744"/>
          </a:xfrm>
          <a:prstGeom prst="roundRect">
            <a:avLst>
              <a:gd name="adj" fmla="val 307692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1296498" y="5879592"/>
            <a:ext cx="123444" cy="123444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8581644" y="2600554"/>
            <a:ext cx="6839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8581644" y="2833726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및 테스트</a:t>
            </a:r>
            <a:endParaRPr lang="en-US" sz="1500" dirty="0"/>
          </a:p>
        </p:txBody>
      </p:sp>
      <p:sp>
        <p:nvSpPr>
          <p:cNvPr id="55" name="Text 43"/>
          <p:cNvSpPr txBox="1"/>
          <p:nvPr/>
        </p:nvSpPr>
        <p:spPr>
          <a:xfrm>
            <a:off x="8810244" y="4052621"/>
            <a:ext cx="24313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탐색 정확도 검증 (vs 네이버 지도)</a:t>
            </a:r>
            <a:endParaRPr lang="en-US" sz="1100" dirty="0"/>
          </a:p>
        </p:txBody>
      </p:sp>
      <p:sp>
        <p:nvSpPr>
          <p:cNvPr id="56" name="Text 44"/>
          <p:cNvSpPr txBox="1"/>
          <p:nvPr/>
        </p:nvSpPr>
        <p:spPr>
          <a:xfrm>
            <a:off x="8810244" y="4381805"/>
            <a:ext cx="2070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최적화 (1초 이내 응답 목표)</a:t>
            </a:r>
            <a:endParaRPr lang="en-US" sz="1100" dirty="0"/>
          </a:p>
        </p:txBody>
      </p:sp>
      <p:sp>
        <p:nvSpPr>
          <p:cNvPr id="57" name="Text 45"/>
          <p:cNvSpPr txBox="1"/>
          <p:nvPr/>
        </p:nvSpPr>
        <p:spPr>
          <a:xfrm>
            <a:off x="8810244" y="4710074"/>
            <a:ext cx="2413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 (Command Line Interface) 개발</a:t>
            </a:r>
            <a:endParaRPr lang="en-US" sz="1100" dirty="0"/>
          </a:p>
        </p:txBody>
      </p:sp>
      <p:sp>
        <p:nvSpPr>
          <p:cNvPr id="58" name="Text 46"/>
          <p:cNvSpPr txBox="1"/>
          <p:nvPr/>
        </p:nvSpPr>
        <p:spPr>
          <a:xfrm>
            <a:off x="8810244" y="5038344"/>
            <a:ext cx="15462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데모 시나리오 준비</a:t>
            </a:r>
            <a:endParaRPr lang="en-US" sz="1100" dirty="0"/>
          </a:p>
        </p:txBody>
      </p:sp>
      <p:sp>
        <p:nvSpPr>
          <p:cNvPr id="59" name="Text 47"/>
          <p:cNvSpPr txBox="1"/>
          <p:nvPr/>
        </p:nvSpPr>
        <p:spPr>
          <a:xfrm>
            <a:off x="8677656" y="5862218"/>
            <a:ext cx="6501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UPCOMING</a:t>
            </a:r>
            <a:endParaRPr lang="en-US" sz="800" dirty="0"/>
          </a:p>
        </p:txBody>
      </p:sp>
      <p:sp>
        <p:nvSpPr>
          <p:cNvPr id="60" name="Shape 48"/>
          <p:cNvSpPr/>
          <p:nvPr/>
        </p:nvSpPr>
        <p:spPr>
          <a:xfrm>
            <a:off x="9763049" y="1638605"/>
            <a:ext cx="476402" cy="476402"/>
          </a:xfrm>
          <a:prstGeom prst="ellipse">
            <a:avLst/>
          </a:prstGeom>
          <a:solidFill>
            <a:srgbClr val="10B981"/>
          </a:solidFill>
          <a:ln w="508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" dist="12700" dir="16200000">
              <a:srgbClr val="ffffff">
                <a:alpha val="5000"/>
              </a:srgbClr>
            </a:outerShdw>
          </a:effectLst>
        </p:spPr>
      </p:sp>
      <p:sp>
        <p:nvSpPr>
          <p:cNvPr id="61" name="Text 49"/>
          <p:cNvSpPr txBox="1"/>
          <p:nvPr/>
        </p:nvSpPr>
        <p:spPr>
          <a:xfrm>
            <a:off x="9943186" y="1733702"/>
            <a:ext cx="267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62" name="Shape 50"/>
          <p:cNvSpPr/>
          <p:nvPr/>
        </p:nvSpPr>
        <p:spPr>
          <a:xfrm>
            <a:off x="0" y="6590995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3" name="Shape 51"/>
          <p:cNvSpPr/>
          <p:nvPr/>
        </p:nvSpPr>
        <p:spPr>
          <a:xfrm>
            <a:off x="0" y="659099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4" name="Text 52"/>
          <p:cNvSpPr txBox="1"/>
          <p:nvPr/>
        </p:nvSpPr>
        <p:spPr>
          <a:xfrm>
            <a:off x="761695" y="6734556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65" name="Text 53"/>
          <p:cNvSpPr txBox="1"/>
          <p:nvPr/>
        </p:nvSpPr>
        <p:spPr>
          <a:xfrm>
            <a:off x="11281867" y="673455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63" b="-363"/>
          <a:stretch/>
        </p:blipFill>
        <p:spPr>
          <a:xfrm>
            <a:off x="761695" y="500177"/>
            <a:ext cx="314554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123798"/>
            <a:ext cx="9528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18895" y="390449"/>
            <a:ext cx="479602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Development Timeline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61695" y="1447495"/>
            <a:ext cx="10668305" cy="4762195"/>
          </a:xfrm>
          <a:prstGeom prst="roundRect">
            <a:avLst>
              <a:gd name="adj" fmla="val 61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292100" dist="1016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57046" y="2200046"/>
            <a:ext cx="10077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057046" y="5896051"/>
            <a:ext cx="10077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510942" y="6096305"/>
            <a:ext cx="1333195" cy="323698"/>
          </a:xfrm>
          <a:prstGeom prst="roundRect">
            <a:avLst>
              <a:gd name="adj" fmla="val 49850"/>
            </a:avLst>
          </a:prstGeom>
          <a:solidFill>
            <a:srgbClr val="4ADE80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666330" y="6200546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60A5FA"/>
          </a:solidFill>
          <a:ln/>
        </p:spPr>
      </p:sp>
      <p:sp>
        <p:nvSpPr>
          <p:cNvPr id="12" name="Shape 9"/>
          <p:cNvSpPr/>
          <p:nvPr/>
        </p:nvSpPr>
        <p:spPr>
          <a:xfrm>
            <a:off x="8906256" y="6200546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10108692" y="6200546"/>
            <a:ext cx="114300" cy="114300"/>
          </a:xfrm>
          <a:prstGeom prst="round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7046" y="6157570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Estimated Time: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625242" y="6152998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13 ~ 16 Days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838237" y="6164885"/>
            <a:ext cx="9793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 (Basic)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078163" y="6164885"/>
            <a:ext cx="9409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 (Core)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280599" y="6164885"/>
            <a:ext cx="9509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 (Final)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" y="1800454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 NAME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28770" y="1742846"/>
            <a:ext cx="790956" cy="314554"/>
          </a:xfrm>
          <a:prstGeom prst="roundRect">
            <a:avLst>
              <a:gd name="adj" fmla="val 17618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481474" y="1809598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WEEK 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93662" y="1742846"/>
            <a:ext cx="790956" cy="314554"/>
          </a:xfrm>
          <a:prstGeom prst="roundRect">
            <a:avLst>
              <a:gd name="adj" fmla="val 17618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46366" y="1809598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WEEK 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459468" y="1742846"/>
            <a:ext cx="790956" cy="314554"/>
          </a:xfrm>
          <a:prstGeom prst="roundRect">
            <a:avLst>
              <a:gd name="adj" fmla="val 17618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612173" y="1809598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WEEK 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38144" y="2352751"/>
            <a:ext cx="9144" cy="35433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003950" y="2352751"/>
            <a:ext cx="9144" cy="35433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8568842" y="2352751"/>
            <a:ext cx="2572207" cy="3543300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rcRect l="-35617" r="-35617" t="0" b="0"/>
          <a:stretch/>
        </p:blipFill>
        <p:spPr>
          <a:xfrm>
            <a:off x="1152144" y="2457907"/>
            <a:ext cx="228600" cy="13350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476756" y="2416759"/>
            <a:ext cx="9454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설정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438144" y="2409444"/>
            <a:ext cx="771754" cy="228600"/>
          </a:xfrm>
          <a:prstGeom prst="roundRect">
            <a:avLst>
              <a:gd name="adj" fmla="val 1000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3534156" y="2438705"/>
            <a:ext cx="4197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Setup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02659" y="2445106"/>
            <a:ext cx="2980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0.5d</a:t>
            </a:r>
            <a:endParaRPr lang="en-US" sz="8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-35617" r="-35617" t="0" b="0"/>
          <a:stretch/>
        </p:blipFill>
        <p:spPr>
          <a:xfrm>
            <a:off x="1152144" y="2915107"/>
            <a:ext cx="228600" cy="13350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476756" y="2873959"/>
            <a:ext cx="10698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GTFS 로더 개발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208069" y="2866644"/>
            <a:ext cx="1923898" cy="228600"/>
          </a:xfrm>
          <a:prstGeom prst="roundRect">
            <a:avLst>
              <a:gd name="adj" fmla="val 100000"/>
            </a:avLst>
          </a:prstGeom>
          <a:solidFill>
            <a:srgbClr val="60A5FA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4303166" y="2895905"/>
            <a:ext cx="819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GTFS Parsing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5913425" y="2902306"/>
            <a:ext cx="2029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endParaRPr lang="en-US" sz="8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-26104" r="-26104" t="0" b="0"/>
          <a:stretch/>
        </p:blipFill>
        <p:spPr>
          <a:xfrm>
            <a:off x="1152144" y="3372307"/>
            <a:ext cx="228600" cy="13350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476756" y="3331159"/>
            <a:ext cx="13075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OSM &amp; 도로 그래프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4208069" y="3267151"/>
            <a:ext cx="2695651" cy="228600"/>
          </a:xfrm>
          <a:prstGeom prst="roundRect">
            <a:avLst>
              <a:gd name="adj" fmla="val 100000"/>
            </a:avLst>
          </a:prstGeom>
          <a:solidFill>
            <a:srgbClr val="93C5FD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4303166" y="3295498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OSM / A*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6683350" y="3302813"/>
            <a:ext cx="2029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3A5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</a:t>
            </a:r>
            <a:endParaRPr lang="en-US" sz="8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rcRect l="-86987" r="-86987" t="0" b="0"/>
          <a:stretch/>
        </p:blipFill>
        <p:spPr>
          <a:xfrm>
            <a:off x="1152144" y="3829507"/>
            <a:ext cx="228600" cy="133502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476756" y="3788359"/>
            <a:ext cx="1384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환승 생성 (Transfer)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6131966" y="3781044"/>
            <a:ext cx="1162202" cy="228600"/>
          </a:xfrm>
          <a:prstGeom prst="roundRect">
            <a:avLst>
              <a:gd name="adj" fmla="val 100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47" name="Text 40"/>
          <p:cNvSpPr txBox="1"/>
          <p:nvPr/>
        </p:nvSpPr>
        <p:spPr>
          <a:xfrm>
            <a:off x="6227064" y="3810305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Transfers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7068312" y="3816706"/>
            <a:ext cx="2029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1d</a:t>
            </a:r>
            <a:endParaRPr lang="en-US" sz="8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rcRect l="-64156" r="-64156" t="0" b="0"/>
          <a:stretch/>
        </p:blipFill>
        <p:spPr>
          <a:xfrm>
            <a:off x="1152144" y="4286707"/>
            <a:ext cx="228600" cy="133502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476756" y="4245559"/>
            <a:ext cx="11649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Raptor SPI 구현</a:t>
            </a:r>
            <a:endParaRPr lang="en-US" sz="11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>
            <a:alphaModFix amt="94000"/>
          </a:blip>
          <a:srcRect l="-1911" r="-1911" t="0" b="0"/>
          <a:stretch/>
        </p:blipFill>
        <p:spPr>
          <a:xfrm>
            <a:off x="2574036" y="4307738"/>
            <a:ext cx="133502" cy="11430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6901891" y="4238244"/>
            <a:ext cx="3086100" cy="228600"/>
          </a:xfrm>
          <a:prstGeom prst="roundRect">
            <a:avLst>
              <a:gd name="adj" fmla="val 100000"/>
            </a:avLst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53" name="Text 44"/>
          <p:cNvSpPr txBox="1"/>
          <p:nvPr/>
        </p:nvSpPr>
        <p:spPr>
          <a:xfrm>
            <a:off x="7016191" y="4267505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SPI Implementation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9742932" y="4273906"/>
            <a:ext cx="2029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4d</a:t>
            </a:r>
            <a:endParaRPr lang="en-US" sz="80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-26104" r="-26104" t="0" b="0"/>
          <a:stretch/>
        </p:blipFill>
        <p:spPr>
          <a:xfrm>
            <a:off x="1152144" y="4743907"/>
            <a:ext cx="228600" cy="133502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1476756" y="4702759"/>
            <a:ext cx="11173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빌더 구성</a:t>
            </a:r>
            <a:endParaRPr lang="en-US" sz="1100" dirty="0"/>
          </a:p>
        </p:txBody>
      </p:sp>
      <p:sp>
        <p:nvSpPr>
          <p:cNvPr id="57" name="Shape 47"/>
          <p:cNvSpPr/>
          <p:nvPr/>
        </p:nvSpPr>
        <p:spPr>
          <a:xfrm>
            <a:off x="8825789" y="4695444"/>
            <a:ext cx="1543507" cy="228600"/>
          </a:xfrm>
          <a:prstGeom prst="roundRect">
            <a:avLst>
              <a:gd name="adj" fmla="val 100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58" name="Text 48"/>
          <p:cNvSpPr txBox="1"/>
          <p:nvPr/>
        </p:nvSpPr>
        <p:spPr>
          <a:xfrm>
            <a:off x="8920886" y="4724705"/>
            <a:ext cx="495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Builder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10146182" y="4731106"/>
            <a:ext cx="2029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endParaRPr lang="en-US" sz="800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rcRect l="-35617" r="-35617" t="0" b="0"/>
          <a:stretch/>
        </p:blipFill>
        <p:spPr>
          <a:xfrm>
            <a:off x="1152144" y="5201107"/>
            <a:ext cx="228600" cy="133502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1476756" y="5159959"/>
            <a:ext cx="9838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엔진 연동</a:t>
            </a:r>
            <a:endParaRPr lang="en-US" sz="1100" dirty="0"/>
          </a:p>
        </p:txBody>
      </p:sp>
      <p:sp>
        <p:nvSpPr>
          <p:cNvPr id="62" name="Shape 51"/>
          <p:cNvSpPr/>
          <p:nvPr/>
        </p:nvSpPr>
        <p:spPr>
          <a:xfrm>
            <a:off x="9595714" y="5152644"/>
            <a:ext cx="771754" cy="228600"/>
          </a:xfrm>
          <a:prstGeom prst="roundRect">
            <a:avLst>
              <a:gd name="adj" fmla="val 100000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63" name="Text 52"/>
          <p:cNvSpPr txBox="1"/>
          <p:nvPr/>
        </p:nvSpPr>
        <p:spPr>
          <a:xfrm>
            <a:off x="9690811" y="5181905"/>
            <a:ext cx="467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Engine</a:t>
            </a:r>
            <a:endParaRPr lang="en-US" sz="900" dirty="0"/>
          </a:p>
        </p:txBody>
      </p:sp>
      <p:sp>
        <p:nvSpPr>
          <p:cNvPr id="64" name="Text 53"/>
          <p:cNvSpPr txBox="1"/>
          <p:nvPr/>
        </p:nvSpPr>
        <p:spPr>
          <a:xfrm>
            <a:off x="10146182" y="5188306"/>
            <a:ext cx="2029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1d</a:t>
            </a:r>
            <a:endParaRPr lang="en-US" sz="800" dirty="0"/>
          </a:p>
        </p:txBody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rcRect l="-26104" r="-26104" t="0" b="0"/>
          <a:stretch/>
        </p:blipFill>
        <p:spPr>
          <a:xfrm>
            <a:off x="1152144" y="5658307"/>
            <a:ext cx="228600" cy="133502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1476756" y="5617159"/>
            <a:ext cx="12033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 &amp; 통합 테스트</a:t>
            </a:r>
            <a:endParaRPr lang="en-US" sz="1100" dirty="0"/>
          </a:p>
        </p:txBody>
      </p:sp>
      <p:sp>
        <p:nvSpPr>
          <p:cNvPr id="67" name="Shape 55"/>
          <p:cNvSpPr/>
          <p:nvPr/>
        </p:nvSpPr>
        <p:spPr>
          <a:xfrm>
            <a:off x="9980676" y="5609844"/>
            <a:ext cx="1162202" cy="228600"/>
          </a:xfrm>
          <a:prstGeom prst="roundRect">
            <a:avLst>
              <a:gd name="adj" fmla="val 1000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68" name="Text 56"/>
          <p:cNvSpPr txBox="1"/>
          <p:nvPr/>
        </p:nvSpPr>
        <p:spPr>
          <a:xfrm>
            <a:off x="10075774" y="5639105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 / Test</a:t>
            </a:r>
            <a:endParaRPr lang="en-US" sz="900" dirty="0"/>
          </a:p>
        </p:txBody>
      </p:sp>
      <p:sp>
        <p:nvSpPr>
          <p:cNvPr id="69" name="Text 57"/>
          <p:cNvSpPr txBox="1"/>
          <p:nvPr/>
        </p:nvSpPr>
        <p:spPr>
          <a:xfrm>
            <a:off x="10916107" y="5645506"/>
            <a:ext cx="2029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endParaRPr lang="en-US" sz="800" dirty="0"/>
          </a:p>
        </p:txBody>
      </p:sp>
      <p:sp>
        <p:nvSpPr>
          <p:cNvPr id="70" name="Shape 58"/>
          <p:cNvSpPr/>
          <p:nvPr/>
        </p:nvSpPr>
        <p:spPr>
          <a:xfrm>
            <a:off x="0" y="6590995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1" name="Shape 59"/>
          <p:cNvSpPr/>
          <p:nvPr/>
        </p:nvSpPr>
        <p:spPr>
          <a:xfrm>
            <a:off x="0" y="659099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2" name="Text 60"/>
          <p:cNvSpPr txBox="1"/>
          <p:nvPr/>
        </p:nvSpPr>
        <p:spPr>
          <a:xfrm>
            <a:off x="11281867" y="6734556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1"/>
          <p:cNvSpPr txBox="1"/>
          <p:nvPr/>
        </p:nvSpPr>
        <p:spPr>
          <a:xfrm>
            <a:off x="701345" y="6586423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1695" y="500177"/>
            <a:ext cx="362102" cy="362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123798"/>
            <a:ext cx="952805" cy="38405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66444" y="390449"/>
            <a:ext cx="572048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Goals &amp; Demo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61695" y="1537106"/>
            <a:ext cx="4076395" cy="1438351"/>
          </a:xfrm>
          <a:prstGeom prst="roundRect">
            <a:avLst>
              <a:gd name="adj" fmla="val 505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1949" y="196778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147572" y="2139696"/>
            <a:ext cx="200254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1695" y="3207715"/>
            <a:ext cx="4076395" cy="1438351"/>
          </a:xfrm>
          <a:prstGeom prst="roundRect">
            <a:avLst>
              <a:gd name="adj" fmla="val 505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61949" y="363839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60A5FA">
              <a:alpha val="2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1162202" y="3810305"/>
            <a:ext cx="171907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4878324"/>
            <a:ext cx="4076395" cy="1438351"/>
          </a:xfrm>
          <a:prstGeom prst="roundRect">
            <a:avLst>
              <a:gd name="adj" fmla="val 505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61949" y="530900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1119226" y="5480914"/>
            <a:ext cx="256946" cy="228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315407" y="1447495"/>
            <a:ext cx="6115507" cy="4953305"/>
          </a:xfrm>
          <a:prstGeom prst="roundRect">
            <a:avLst>
              <a:gd name="adj" fmla="val 426"/>
            </a:avLst>
          </a:prstGeom>
          <a:solidFill>
            <a:srgbClr val="0F172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482600" dist="1905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324551" y="1457554"/>
            <a:ext cx="6096305" cy="42885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2"/>
          <p:cNvSpPr/>
          <p:nvPr/>
        </p:nvSpPr>
        <p:spPr>
          <a:xfrm>
            <a:off x="5324551" y="1877263"/>
            <a:ext cx="6096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5514746" y="1607515"/>
            <a:ext cx="114300" cy="11430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4"/>
          <p:cNvSpPr/>
          <p:nvPr/>
        </p:nvSpPr>
        <p:spPr>
          <a:xfrm>
            <a:off x="5705856" y="1607515"/>
            <a:ext cx="114300" cy="1143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5"/>
          <p:cNvSpPr/>
          <p:nvPr/>
        </p:nvSpPr>
        <p:spPr>
          <a:xfrm>
            <a:off x="5896051" y="1607515"/>
            <a:ext cx="114300" cy="11430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Shape 16"/>
          <p:cNvSpPr/>
          <p:nvPr/>
        </p:nvSpPr>
        <p:spPr>
          <a:xfrm>
            <a:off x="5514746" y="4561942"/>
            <a:ext cx="5715000" cy="1714500"/>
          </a:xfrm>
          <a:prstGeom prst="rect">
            <a:avLst/>
          </a:prstGeom>
          <a:solidFill>
            <a:srgbClr val="4ADE80">
              <a:alpha val="5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514746" y="4561942"/>
            <a:ext cx="19202" cy="17145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723644" y="1737360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 LATENCY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723644" y="1994306"/>
            <a:ext cx="13240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 1 sec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2939796" y="2108606"/>
            <a:ext cx="1062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(Target: 500ms)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723644" y="2413102"/>
            <a:ext cx="23125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 환경에서 사용자 입력 후 결과 출력까지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723644" y="2586838"/>
            <a:ext cx="234086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즉각적인 반응 속도 보장 (Raptor 알고리즘)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723644" y="3407969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 LOAD TIME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723644" y="3664915"/>
            <a:ext cx="13240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 2 min</a:t>
            </a:r>
            <a:endParaRPr lang="en-US" sz="2100" dirty="0"/>
          </a:p>
        </p:txBody>
      </p:sp>
      <p:sp>
        <p:nvSpPr>
          <p:cNvPr id="31" name="Text 25"/>
          <p:cNvSpPr txBox="1"/>
          <p:nvPr/>
        </p:nvSpPr>
        <p:spPr>
          <a:xfrm>
            <a:off x="2939796" y="3779215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(210k Stops)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723644" y="4084625"/>
            <a:ext cx="19796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전체 대중교통 데이터(GTFS) 및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723644" y="4257446"/>
            <a:ext cx="21314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도로망 데이터 로딩 및 인덱싱 소요 시간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723644" y="5078578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MEMORY USAGE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723644" y="5335524"/>
            <a:ext cx="11622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 8 GB</a:t>
            </a:r>
            <a:endParaRPr lang="en-US" sz="2100" dirty="0"/>
          </a:p>
        </p:txBody>
      </p:sp>
      <p:sp>
        <p:nvSpPr>
          <p:cNvPr id="36" name="Text 30"/>
          <p:cNvSpPr txBox="1"/>
          <p:nvPr/>
        </p:nvSpPr>
        <p:spPr>
          <a:xfrm>
            <a:off x="2779776" y="5449824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(Heap Size)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723644" y="5755234"/>
            <a:ext cx="21890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일반적인 개발자 노트북 환경(16GB)에서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723644" y="5928055"/>
            <a:ext cx="20939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구동 가능한 경량화된 메모리 구조 설계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7725766" y="1580998"/>
            <a:ext cx="20272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user@korean-otp: ~/project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5514746" y="2081174"/>
            <a:ext cx="29004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$java -jar -Xmx8G korean-raptor.jar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5514746" y="2508199"/>
            <a:ext cx="41010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[INFO] Loading GTFS data from ./data/gtfs_korea...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5514746" y="2721254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[INFO] Loaded 212,105 stops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5514746" y="2934310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[INFO] Loaded 27,138 routes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5514746" y="3148279"/>
            <a:ext cx="37865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[INFO] Generating transfers (distance=500m)...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5514746" y="3361334"/>
            <a:ext cx="39483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[SUCCESS] Raptor Engine Ready! (Duration: 45.2s)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5514746" y="3575304"/>
            <a:ext cx="48252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-----------------------------------------------------------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5514746" y="4001414"/>
            <a:ext cx="41010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$search --from "서울역" --to "강남역" --time "09:00"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5514746" y="4215384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[INFO] Searching path...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5676595" y="4571086"/>
            <a:ext cx="33960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✅ Found Path (Time: 32min, Transfers: 1)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5676595" y="4832604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Calculation time: 230ms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5676595" y="5063033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1.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5962802" y="5063033"/>
            <a:ext cx="5001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09:04</a:t>
            </a:r>
            <a:endParaRPr lang="en-US" sz="100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6486754" y="5079492"/>
            <a:ext cx="85954" cy="133502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6572707" y="5063033"/>
            <a:ext cx="22146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Walk to 서울역(1호선) (4min)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5676595" y="5314493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2.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5962802" y="5314493"/>
            <a:ext cx="5001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09:08</a:t>
            </a:r>
            <a:endParaRPr lang="en-US" sz="1000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6486754" y="5330952"/>
            <a:ext cx="114300" cy="133502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6601054" y="5314493"/>
            <a:ext cx="1729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1호선 (서울역 → 시청역)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5676595" y="5565953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3.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5962802" y="5565953"/>
            <a:ext cx="5001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09:11</a:t>
            </a:r>
            <a:endParaRPr lang="en-US" sz="1000" dirty="0"/>
          </a:p>
        </p:txBody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6486754" y="5582412"/>
            <a:ext cx="85954" cy="133502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6572707" y="5565953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Transfer at 시청역 (3min)</a:t>
            </a:r>
            <a:endParaRPr lang="en-US" sz="1000" dirty="0"/>
          </a:p>
        </p:txBody>
      </p:sp>
      <p:sp>
        <p:nvSpPr>
          <p:cNvPr id="63" name="Text 54"/>
          <p:cNvSpPr txBox="1"/>
          <p:nvPr/>
        </p:nvSpPr>
        <p:spPr>
          <a:xfrm>
            <a:off x="5676595" y="5817413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4.</a:t>
            </a:r>
            <a:endParaRPr lang="en-US" sz="1000" dirty="0"/>
          </a:p>
        </p:txBody>
      </p:sp>
      <p:sp>
        <p:nvSpPr>
          <p:cNvPr id="64" name="Text 55"/>
          <p:cNvSpPr txBox="1"/>
          <p:nvPr/>
        </p:nvSpPr>
        <p:spPr>
          <a:xfrm>
            <a:off x="5962802" y="5817413"/>
            <a:ext cx="5001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09:30</a:t>
            </a:r>
            <a:endParaRPr lang="en-US" sz="1000" dirty="0"/>
          </a:p>
        </p:txBody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486754" y="5833872"/>
            <a:ext cx="114300" cy="133502"/>
          </a:xfrm>
          <a:prstGeom prst="rect">
            <a:avLst/>
          </a:prstGeom>
        </p:spPr>
      </p:pic>
      <p:sp>
        <p:nvSpPr>
          <p:cNvPr id="66" name="Text 56"/>
          <p:cNvSpPr txBox="1"/>
          <p:nvPr/>
        </p:nvSpPr>
        <p:spPr>
          <a:xfrm>
            <a:off x="6601054" y="5817413"/>
            <a:ext cx="1729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2호선 (시청역 → 강남역)</a:t>
            </a:r>
            <a:endParaRPr lang="en-US" sz="1000" dirty="0"/>
          </a:p>
        </p:txBody>
      </p:sp>
      <p:sp>
        <p:nvSpPr>
          <p:cNvPr id="67" name="Text 57"/>
          <p:cNvSpPr txBox="1"/>
          <p:nvPr/>
        </p:nvSpPr>
        <p:spPr>
          <a:xfrm>
            <a:off x="5676595" y="6068873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5.</a:t>
            </a:r>
            <a:endParaRPr lang="en-US" sz="1000" dirty="0"/>
          </a:p>
        </p:txBody>
      </p:sp>
      <p:sp>
        <p:nvSpPr>
          <p:cNvPr id="68" name="Text 58"/>
          <p:cNvSpPr txBox="1"/>
          <p:nvPr/>
        </p:nvSpPr>
        <p:spPr>
          <a:xfrm>
            <a:off x="5962802" y="6068873"/>
            <a:ext cx="5001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09:32</a:t>
            </a:r>
            <a:endParaRPr lang="en-US" sz="1000" dirty="0"/>
          </a:p>
        </p:txBody>
      </p:sp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6486754" y="6085332"/>
            <a:ext cx="114300" cy="133502"/>
          </a:xfrm>
          <a:prstGeom prst="rect">
            <a:avLst/>
          </a:prstGeom>
        </p:spPr>
      </p:pic>
      <p:sp>
        <p:nvSpPr>
          <p:cNvPr id="70" name="Text 59"/>
          <p:cNvSpPr txBox="1"/>
          <p:nvPr/>
        </p:nvSpPr>
        <p:spPr>
          <a:xfrm>
            <a:off x="6601054" y="6068873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Arrive at Destination</a:t>
            </a:r>
            <a:endParaRPr lang="en-US" sz="1000" dirty="0"/>
          </a:p>
        </p:txBody>
      </p:sp>
      <p:sp>
        <p:nvSpPr>
          <p:cNvPr id="71" name="Text 60"/>
          <p:cNvSpPr txBox="1"/>
          <p:nvPr/>
        </p:nvSpPr>
        <p:spPr>
          <a:xfrm>
            <a:off x="5514746" y="6425489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</a:t>
            </a:r>
            <a:endParaRPr lang="en-US" sz="1000" dirty="0"/>
          </a:p>
        </p:txBody>
      </p:sp>
      <p:sp>
        <p:nvSpPr>
          <p:cNvPr id="72" name="Shape 61"/>
          <p:cNvSpPr/>
          <p:nvPr/>
        </p:nvSpPr>
        <p:spPr>
          <a:xfrm>
            <a:off x="0" y="6782105"/>
            <a:ext cx="12191695" cy="47640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3" name="Shape 62"/>
          <p:cNvSpPr/>
          <p:nvPr/>
        </p:nvSpPr>
        <p:spPr>
          <a:xfrm>
            <a:off x="0" y="6782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4" name="Text 63"/>
          <p:cNvSpPr txBox="1"/>
          <p:nvPr/>
        </p:nvSpPr>
        <p:spPr>
          <a:xfrm>
            <a:off x="761695" y="6924751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OTP 프로젝트</a:t>
            </a:r>
            <a:endParaRPr lang="en-US" sz="1000" dirty="0"/>
          </a:p>
        </p:txBody>
      </p:sp>
      <p:sp>
        <p:nvSpPr>
          <p:cNvPr id="75" name="Text 64"/>
          <p:cNvSpPr txBox="1"/>
          <p:nvPr/>
        </p:nvSpPr>
        <p:spPr>
          <a:xfrm>
            <a:off x="11281867" y="6924751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2026-01-05T02:22:18Z</dcterms:created>
  <dcterms:modified xsi:type="dcterms:W3CDTF">2026-01-05T02:22:18Z</dcterms:modified>
</cp:coreProperties>
</file>